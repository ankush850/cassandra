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3"/>
    </p:embeddedFont>
    <p:embeddedFont>
      <p:font typeface="DM Sans" charset="1" panose="00000000000000000000"/>
      <p:regular r:id="rId14"/>
    </p:embeddedFont>
    <p:embeddedFont>
      <p:font typeface="Open Sans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sv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7.png"/><Relationship Id="rId9" Type="http://schemas.openxmlformats.org/officeDocument/2006/relationships/image" Target="../media/image5.png"/><Relationship Id="rId10" Type="http://schemas.openxmlformats.org/officeDocument/2006/relationships/image" Target="../media/image6.svg"/><Relationship Id="rId11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7.png"/><Relationship Id="rId9" Type="http://schemas.openxmlformats.org/officeDocument/2006/relationships/image" Target="../media/image1.png"/><Relationship Id="rId10" Type="http://schemas.openxmlformats.org/officeDocument/2006/relationships/image" Target="../media/image2.svg"/><Relationship Id="rId11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3640680" y="5712464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246407" y="8080600"/>
            <a:ext cx="2245526" cy="2607287"/>
          </a:xfrm>
          <a:custGeom>
            <a:avLst/>
            <a:gdLst/>
            <a:ahLst/>
            <a:cxnLst/>
            <a:rect r="r" b="b" t="t" l="l"/>
            <a:pathLst>
              <a:path h="2607287" w="2245526">
                <a:moveTo>
                  <a:pt x="0" y="0"/>
                </a:moveTo>
                <a:lnTo>
                  <a:pt x="2245526" y="0"/>
                </a:lnTo>
                <a:lnTo>
                  <a:pt x="2245526" y="2607286"/>
                </a:lnTo>
                <a:lnTo>
                  <a:pt x="0" y="26072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5400000">
            <a:off x="13452275" y="-158206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75801" y="1786674"/>
            <a:ext cx="9911987" cy="1690152"/>
            <a:chOff x="0" y="0"/>
            <a:chExt cx="13215983" cy="225353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2875"/>
              <a:ext cx="13215983" cy="1325966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>
                <a:defRPr sz="1600" b="1"/>
              </a:pPr>
              <a:r>
                <a:t>TEAM: CASSANDRA AI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676332" y="1440736"/>
              <a:ext cx="5863319" cy="812800"/>
            </a:xfrm>
            <a:prstGeom prst="rect">
              <a:avLst/>
            </a:prstGeom>
          </p:spPr>
          <p:txBody>
            <a:bodyPr anchor="t" rtlCol="false" tIns="0" lIns="0" bIns="0" rIns="0" wrap="square">
              <a:spAutoFit/>
            </a:bodyPr>
            <a:lstStyle/>
            <a:p>
              <a:pPr>
                <a:defRPr sz="2600" b="1"/>
              </a:pPr>
              <a:r>
                <a:t>CASSANDRA</a:t>
              </a:r>
            </a:p>
            <a:p>
              <a:pPr>
                <a:defRPr sz="2600" b="1"/>
              </a:pPr>
              <a:r>
                <a:t>The Meta-Agent That Watches Other Agents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18508" y="3925924"/>
            <a:ext cx="5474174" cy="5888048"/>
            <a:chOff x="0" y="0"/>
            <a:chExt cx="7298898" cy="785073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342439" cy="1268110"/>
              <a:chOff x="0" y="0"/>
              <a:chExt cx="860442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6044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0442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75935" y="2719727"/>
              <a:ext cx="3185638" cy="723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3597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MEMBER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500510" y="222946"/>
              <a:ext cx="4798388" cy="7696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3"/>
                </a:lnSpc>
              </a:pPr>
              <a:r>
                <a:rPr lang="en-US" sz="3827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TEAM LEADER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26723" y="2175051"/>
              <a:ext cx="1342439" cy="1268110"/>
              <a:chOff x="0" y="0"/>
              <a:chExt cx="860442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6044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0442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53446" y="4368448"/>
              <a:ext cx="1288993" cy="1217623"/>
              <a:chOff x="0" y="0"/>
              <a:chExt cx="860442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6044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0442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06892" y="6628572"/>
              <a:ext cx="1293795" cy="1222159"/>
              <a:chOff x="0" y="0"/>
              <a:chExt cx="860442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6044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60442">
                    <a:moveTo>
                      <a:pt x="430221" y="0"/>
                    </a:moveTo>
                    <a:cubicBezTo>
                      <a:pt x="192616" y="0"/>
                      <a:pt x="0" y="181951"/>
                      <a:pt x="0" y="406400"/>
                    </a:cubicBezTo>
                    <a:cubicBezTo>
                      <a:pt x="0" y="630849"/>
                      <a:pt x="192616" y="812800"/>
                      <a:pt x="430221" y="812800"/>
                    </a:cubicBezTo>
                    <a:cubicBezTo>
                      <a:pt x="667825" y="812800"/>
                      <a:pt x="860442" y="630849"/>
                      <a:pt x="860442" y="406400"/>
                    </a:cubicBezTo>
                    <a:cubicBezTo>
                      <a:pt x="860442" y="181951"/>
                      <a:pt x="667825" y="0"/>
                      <a:pt x="430221" y="0"/>
                    </a:cubicBezTo>
                    <a:close/>
                  </a:path>
                </a:pathLst>
              </a:custGeom>
              <a:solidFill>
                <a:srgbClr val="01386A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80666" y="114300"/>
                <a:ext cx="699109" cy="622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0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74797" y="218330"/>
              <a:ext cx="192846" cy="774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83"/>
                </a:lnSpc>
              </a:pPr>
              <a:r>
                <a:rPr lang="en-US" sz="355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549577" y="2460532"/>
              <a:ext cx="296731" cy="6399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50"/>
                </a:lnSpc>
              </a:pPr>
              <a:r>
                <a:rPr lang="en-US" sz="2893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38833" y="4606555"/>
              <a:ext cx="318220" cy="674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25"/>
                </a:lnSpc>
              </a:pPr>
              <a:r>
                <a:rPr lang="en-US" sz="3018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85579" y="6877339"/>
              <a:ext cx="328540" cy="66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41"/>
                </a:lnSpc>
              </a:pPr>
              <a:r>
                <a:rPr lang="en-US" sz="302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2575935" y="4673230"/>
              <a:ext cx="3185638" cy="723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3597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MEMBER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575935" y="6877934"/>
              <a:ext cx="3185638" cy="7234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17"/>
                </a:lnSpc>
              </a:pPr>
              <a:r>
                <a:rPr lang="en-US" sz="3597">
                  <a:solidFill>
                    <a:srgbClr val="545454"/>
                  </a:solidFill>
                  <a:latin typeface="DM Sans"/>
                  <a:ea typeface="DM Sans"/>
                  <a:cs typeface="DM Sans"/>
                  <a:sym typeface="DM Sans"/>
                </a:rPr>
                <a:t>MEMBER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-621558" y="30199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0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33" id="33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818" t="-78926" r="-32997" b="-117912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10979" y="1959928"/>
            <a:ext cx="12866041" cy="258762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400" b="1"/>
            </a:pPr>
            <a: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51115" y="5466000"/>
            <a:ext cx="5588253" cy="419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1500" b="0"/>
            </a:pPr>
            <a:r>
              <a:t>Production AI Agents Fail Quietly and Confidently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• Silent Hallucinations: Support bots invent fake policies &amp; delivery dates when tools fail.</a:t>
            </a:r>
          </a:p>
          <a:p>
            <a:pPr>
              <a:defRPr sz="1500" b="0"/>
            </a:pPr>
            <a:r>
              <a:t>• Behavioral Prompt Drift: Model updates and edge cases silently break system prompt adherence.</a:t>
            </a:r>
          </a:p>
          <a:p>
            <a:pPr>
              <a:defRPr sz="1500" b="0"/>
            </a:pPr>
            <a:r>
              <a:t>• Manual QA Bottleneck: Engineers waste hours manually sampling trace dashboards and writing evals.</a:t>
            </a:r>
          </a:p>
          <a:p>
            <a:pPr>
              <a:defRPr sz="1500" b="0"/>
            </a:pPr>
            <a:r>
              <a:t>• Uncaught Failures: Most production agent errors go undetected until end users complain.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0" y="6172200"/>
            <a:ext cx="3543872" cy="4114800"/>
          </a:xfrm>
          <a:custGeom>
            <a:avLst/>
            <a:gdLst/>
            <a:ahLst/>
            <a:cxnLst/>
            <a:rect r="r" b="b" t="t" l="l"/>
            <a:pathLst>
              <a:path h="4114800" w="3543872">
                <a:moveTo>
                  <a:pt x="0" y="0"/>
                </a:moveTo>
                <a:lnTo>
                  <a:pt x="3543872" y="0"/>
                </a:lnTo>
                <a:lnTo>
                  <a:pt x="35438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611958">
            <a:off x="15396473" y="7658553"/>
            <a:ext cx="2457677" cy="2841245"/>
          </a:xfrm>
          <a:custGeom>
            <a:avLst/>
            <a:gdLst/>
            <a:ahLst/>
            <a:cxnLst/>
            <a:rect r="r" b="b" t="t" l="l"/>
            <a:pathLst>
              <a:path h="2841245" w="2457677">
                <a:moveTo>
                  <a:pt x="0" y="0"/>
                </a:moveTo>
                <a:lnTo>
                  <a:pt x="2457676" y="0"/>
                </a:lnTo>
                <a:lnTo>
                  <a:pt x="2457676" y="2841245"/>
                </a:lnTo>
                <a:lnTo>
                  <a:pt x="0" y="284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818" t="-78926" r="-32997" b="-117912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400000">
            <a:off x="13672854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21558" y="30199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818" t="-78926" r="-32997" b="-117912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0754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64066" y="7043014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7" y="0"/>
                </a:lnTo>
                <a:lnTo>
                  <a:pt x="41354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66025" y="5265774"/>
            <a:ext cx="6713943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1500" b="0"/>
            </a:pPr>
            <a:r>
              <a:t>Autonomous Closed-Loop Quality Assurance for AI Agents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Cassandra is a supervisor meta-agent that monitors Arize Phoenix traces, detects failures, and autonomously patches prompts.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Autonomous 8-Stage Pipeline:</a:t>
            </a:r>
          </a:p>
          <a:p>
            <a:pPr>
              <a:defRPr sz="1500" b="0"/>
            </a:pPr>
            <a:r>
              <a:t>Watch -&gt; Diagnose -&gt; Root-Cause -&gt; Synthesize Evals -&gt; Evaluate -&gt; Patch -&gt; Replay -&gt; Red-Team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• Zero Human-in-the-Loop: Turns 1 incident into 1 verified, evidence-backed prompt patch.</a:t>
            </a:r>
          </a:p>
          <a:p>
            <a:pPr>
              <a:defRPr sz="1500" b="0"/>
            </a:pPr>
            <a:r>
              <a:t>• Recursive Self-Observability: Cassandra monitors its own reasoning and benchmarks accuracy.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50103" y="2268574"/>
            <a:ext cx="7366992" cy="249555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400" b="1"/>
            </a:pPr>
            <a:r>
              <a:t>SOLUTION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494117" y="7043014"/>
            <a:ext cx="2793883" cy="3243986"/>
          </a:xfrm>
          <a:custGeom>
            <a:avLst/>
            <a:gdLst/>
            <a:ahLst/>
            <a:cxnLst/>
            <a:rect r="r" b="b" t="t" l="l"/>
            <a:pathLst>
              <a:path h="3243986" w="2793883">
                <a:moveTo>
                  <a:pt x="0" y="0"/>
                </a:moveTo>
                <a:lnTo>
                  <a:pt x="2793883" y="0"/>
                </a:lnTo>
                <a:lnTo>
                  <a:pt x="2793883" y="3243986"/>
                </a:lnTo>
                <a:lnTo>
                  <a:pt x="0" y="32439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18" t="-78926" r="-32997" b="-11791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18" t="-78926" r="-32997" b="-117912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5400000">
            <a:off x="13672854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09365" y="30199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818" t="-78926" r="-32997" b="-11791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292805" y="-2024657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975356" y="2409662"/>
            <a:ext cx="7720399" cy="319737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400" b="1"/>
            </a:pPr>
            <a:r>
              <a:t>KEY FEATURES &amp; BENEFITS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819721" y="8743950"/>
            <a:ext cx="3468279" cy="3086100"/>
            <a:chOff x="0" y="0"/>
            <a:chExt cx="913456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449479" y="9138792"/>
            <a:ext cx="3468279" cy="3086100"/>
            <a:chOff x="0" y="0"/>
            <a:chExt cx="91345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3456" cy="812800"/>
            </a:xfrm>
            <a:custGeom>
              <a:avLst/>
              <a:gdLst/>
              <a:ahLst/>
              <a:cxnLst/>
              <a:rect r="r" b="b" t="t" l="l"/>
              <a:pathLst>
                <a:path h="812800" w="913456">
                  <a:moveTo>
                    <a:pt x="0" y="0"/>
                  </a:moveTo>
                  <a:lnTo>
                    <a:pt x="913456" y="0"/>
                  </a:lnTo>
                  <a:lnTo>
                    <a:pt x="91345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9D8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38100"/>
              <a:ext cx="913456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-5400000">
            <a:off x="13672854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07214" y="20722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8" y="0"/>
                </a:lnTo>
                <a:lnTo>
                  <a:pt x="41062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277523" y="0"/>
            <a:ext cx="4298771" cy="4647320"/>
          </a:xfrm>
          <a:custGeom>
            <a:avLst/>
            <a:gdLst/>
            <a:ahLst/>
            <a:cxnLst/>
            <a:rect r="r" b="b" t="t" l="l"/>
            <a:pathLst>
              <a:path h="4647320" w="4298771">
                <a:moveTo>
                  <a:pt x="0" y="0"/>
                </a:moveTo>
                <a:lnTo>
                  <a:pt x="4298771" y="0"/>
                </a:lnTo>
                <a:lnTo>
                  <a:pt x="4298771" y="4647320"/>
                </a:lnTo>
                <a:lnTo>
                  <a:pt x="0" y="4647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7" id="17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18" t="-78926" r="-32997" b="-11791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975356" y="6160771"/>
            <a:ext cx="5661747" cy="3619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1500" b="0"/>
            </a:pPr>
            <a:r>
              <a:t>Key Features &amp; Value Proposition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1. LLM-as-a-Judge Diagnosis: Classifies failures (hallucination, drift, tool failure) with confidence scores.</a:t>
            </a:r>
          </a:p>
          <a:p>
            <a:pPr>
              <a:defRPr sz="1500" b="0"/>
            </a:pPr>
            <a:r>
              <a:t>2. Adversarial Dataset Synthesis: Generates targeted attack datasets directly into Arize Phoenix.</a:t>
            </a:r>
          </a:p>
          <a:p>
            <a:pPr>
              <a:defRPr sz="1500" b="0"/>
            </a:pPr>
            <a:r>
              <a:t>3. Automated Prompt Repair: Generates candidate system prompt patches with git-style diffs.</a:t>
            </a:r>
          </a:p>
          <a:p>
            <a:pPr>
              <a:defRPr sz="1500" b="0"/>
            </a:pPr>
            <a:r>
              <a:t>4. Live Replay &amp; Red-Teaming: Re-runs failing inputs and verifies survival rate against probes.</a:t>
            </a:r>
          </a:p>
          <a:p>
            <a:pPr>
              <a:defRPr sz="1500" b="0"/>
            </a:pPr>
            <a:r>
              <a:t>5. Phoenix MCP Ecosystem: Reads traces &amp; writes annotations, datasets &amp; prompt versions.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098791"/>
            <a:ext cx="18288000" cy="1816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400" b="1"/>
            </a:pPr>
            <a:r>
              <a:t>ARCHITECTURE WORKFLOW DIAGRAM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08039" y="4724400"/>
            <a:ext cx="10871922" cy="4191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1400" b="0"/>
            </a:pPr>
            <a:r>
              <a:t>End-to-End Meta-Agent Telemetry Loop</a:t>
            </a:r>
          </a:p>
          <a:p>
            <a:pPr>
              <a:defRPr sz="1400" b="0"/>
            </a:pPr>
          </a:p>
          <a:p>
            <a:pPr>
              <a:defRPr sz="1400" b="0"/>
            </a:pPr>
            <a:r>
              <a:t>[Production Agent (ShopBot)] --(OpenInference Traces)--&gt; [Arize Phoenix Platform]</a:t>
            </a:r>
          </a:p>
          <a:p>
            <a:pPr>
              <a:defRPr sz="1400" b="0"/>
            </a:pPr>
            <a:r>
              <a:t>                                                                |</a:t>
            </a:r>
          </a:p>
          <a:p>
            <a:pPr>
              <a:defRPr sz="1400" b="0"/>
            </a:pPr>
            <a:r>
              <a:t>[Live Dashboard Cockpit] &lt;--(SSE Realtime Updates)-- [Cassandra Meta-Agent]</a:t>
            </a:r>
          </a:p>
          <a:p>
            <a:pPr>
              <a:defRPr sz="1400" b="0"/>
            </a:pPr>
            <a:r>
              <a:t>                                                       | (ADK LoopAgent / Gemini)</a:t>
            </a:r>
          </a:p>
          <a:p>
            <a:pPr>
              <a:defRPr sz="1400" b="0"/>
            </a:pPr>
            <a:r>
              <a:t>                                                       v</a:t>
            </a:r>
          </a:p>
          <a:p>
            <a:pPr>
              <a:defRPr sz="1400" b="0"/>
            </a:pPr>
            <a:r>
              <a:t>                                 [Auto-Generated Prompt Fixes &amp; Evals]</a:t>
            </a:r>
          </a:p>
          <a:p>
            <a:pPr>
              <a:defRPr sz="1400" b="0"/>
            </a:pPr>
          </a:p>
          <a:p>
            <a:pPr>
              <a:defRPr sz="1400" b="0"/>
            </a:pPr>
            <a:r>
              <a:t>• Decoupled Architecture: Supervises purely via telemetry without touching agent internals.</a:t>
            </a:r>
          </a:p>
          <a:p>
            <a:pPr>
              <a:defRPr sz="1400" b="0"/>
            </a:pPr>
            <a:r>
              <a:t>• Technology Stack: Vertex AI Gemini, ADK LoopAgent, Arize Phoenix MCP, FastAPI Cloud Run.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0800000">
            <a:off x="15469580" y="7462696"/>
            <a:ext cx="2818420" cy="2824304"/>
          </a:xfrm>
          <a:custGeom>
            <a:avLst/>
            <a:gdLst/>
            <a:ahLst/>
            <a:cxnLst/>
            <a:rect r="r" b="b" t="t" l="l"/>
            <a:pathLst>
              <a:path h="2824304" w="2818420">
                <a:moveTo>
                  <a:pt x="0" y="0"/>
                </a:moveTo>
                <a:lnTo>
                  <a:pt x="2818420" y="0"/>
                </a:lnTo>
                <a:lnTo>
                  <a:pt x="2818420" y="2824304"/>
                </a:lnTo>
                <a:lnTo>
                  <a:pt x="0" y="28243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172" y="-300789"/>
            <a:ext cx="5495237" cy="5940797"/>
          </a:xfrm>
          <a:custGeom>
            <a:avLst/>
            <a:gdLst/>
            <a:ahLst/>
            <a:cxnLst/>
            <a:rect r="r" b="b" t="t" l="l"/>
            <a:pathLst>
              <a:path h="5940797" w="5495237">
                <a:moveTo>
                  <a:pt x="0" y="0"/>
                </a:moveTo>
                <a:lnTo>
                  <a:pt x="5495237" y="0"/>
                </a:lnTo>
                <a:lnTo>
                  <a:pt x="5495237" y="5940797"/>
                </a:lnTo>
                <a:lnTo>
                  <a:pt x="0" y="59407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4172" y="9578225"/>
            <a:ext cx="9011810" cy="544464"/>
          </a:xfrm>
          <a:custGeom>
            <a:avLst/>
            <a:gdLst/>
            <a:ahLst/>
            <a:cxnLst/>
            <a:rect r="r" b="b" t="t" l="l"/>
            <a:pathLst>
              <a:path h="544464" w="9011810">
                <a:moveTo>
                  <a:pt x="0" y="0"/>
                </a:moveTo>
                <a:lnTo>
                  <a:pt x="9011810" y="0"/>
                </a:lnTo>
                <a:lnTo>
                  <a:pt x="9011810" y="544464"/>
                </a:lnTo>
                <a:lnTo>
                  <a:pt x="0" y="5444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400000">
            <a:off x="13452275" y="-209159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21558" y="30199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818" t="-78926" r="-32997" b="-117912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0551" y="2686860"/>
            <a:ext cx="8927847" cy="730377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400" b="1"/>
            </a:pPr>
            <a:r>
              <a:t>CONCLUSION &amp; IMPACT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57821" y="4231172"/>
            <a:ext cx="8174841" cy="41614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1500" b="0"/>
            </a:pPr>
            <a:r>
              <a:t>Transforming AI Reliability &amp; Production Safety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• Shift to Autonomous QA: Replaces manual trace inspection with 24/7 self-healing supervisor loops.</a:t>
            </a:r>
          </a:p>
          <a:p>
            <a:pPr>
              <a:defRPr sz="1500" b="0"/>
            </a:pPr>
            <a:r>
              <a:t>• 90%+ MTTR Reduction: Resolves prompt vulnerabilities and tool failure hallucinations in &lt; 60 seconds.</a:t>
            </a:r>
          </a:p>
          <a:p>
            <a:pPr>
              <a:defRPr sz="1500" b="0"/>
            </a:pPr>
            <a:r>
              <a:t>• Enterprise Production Confidence: Ensures compliance, brand safety, and reliability for LLM deployments.</a:t>
            </a:r>
          </a:p>
          <a:p>
            <a:pPr>
              <a:defRPr sz="1500" b="0"/>
            </a:pPr>
          </a:p>
          <a:p>
            <a:pPr>
              <a:defRPr sz="1500" b="0"/>
            </a:pPr>
            <a:r>
              <a:t>"Agents fail silently. Cassandra hears them."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18" t="-78926" r="-32997" b="-117912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-5400000">
            <a:off x="13672854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01579" y="30199"/>
            <a:ext cx="3996168" cy="4004511"/>
          </a:xfrm>
          <a:custGeom>
            <a:avLst/>
            <a:gdLst/>
            <a:ahLst/>
            <a:cxnLst/>
            <a:rect r="r" b="b" t="t" l="l"/>
            <a:pathLst>
              <a:path h="4004511" w="3996168">
                <a:moveTo>
                  <a:pt x="0" y="0"/>
                </a:moveTo>
                <a:lnTo>
                  <a:pt x="3996168" y="0"/>
                </a:lnTo>
                <a:lnTo>
                  <a:pt x="3996168" y="4004511"/>
                </a:lnTo>
                <a:lnTo>
                  <a:pt x="0" y="40045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-20754"/>
            <a:ext cx="4317968" cy="4668074"/>
          </a:xfrm>
          <a:custGeom>
            <a:avLst/>
            <a:gdLst/>
            <a:ahLst/>
            <a:cxnLst/>
            <a:rect r="r" b="b" t="t" l="l"/>
            <a:pathLst>
              <a:path h="4668074" w="4317968">
                <a:moveTo>
                  <a:pt x="0" y="0"/>
                </a:moveTo>
                <a:lnTo>
                  <a:pt x="4317968" y="0"/>
                </a:lnTo>
                <a:lnTo>
                  <a:pt x="4317968" y="4668074"/>
                </a:lnTo>
                <a:lnTo>
                  <a:pt x="0" y="46680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273456" y="1800046"/>
            <a:ext cx="2427304" cy="1617191"/>
          </a:xfrm>
          <a:custGeom>
            <a:avLst/>
            <a:gdLst/>
            <a:ahLst/>
            <a:cxnLst/>
            <a:rect r="r" b="b" t="t" l="l"/>
            <a:pathLst>
              <a:path h="1617191" w="2427304">
                <a:moveTo>
                  <a:pt x="0" y="0"/>
                </a:moveTo>
                <a:lnTo>
                  <a:pt x="2427304" y="0"/>
                </a:lnTo>
                <a:lnTo>
                  <a:pt x="2427304" y="1617191"/>
                </a:lnTo>
                <a:lnTo>
                  <a:pt x="0" y="1617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6818" t="-78926" r="-32997" b="-11791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33915" y="4208460"/>
            <a:ext cx="10620170" cy="1638934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>
              <a:defRPr sz="2200" b="1"/>
            </a:pPr>
            <a:r>
              <a:t>THANK YOU</a:t>
            </a:r>
          </a:p>
          <a:p>
            <a:pPr>
              <a:defRPr sz="2200" b="1"/>
            </a:pPr>
          </a:p>
          <a:p>
            <a:pPr>
              <a:defRPr sz="2200" b="1"/>
            </a:pPr>
            <a:r>
              <a:t>Cassandra — The Meta-Agent That Watches Other Agents</a:t>
            </a:r>
          </a:p>
          <a:p>
            <a:pPr>
              <a:defRPr sz="2200" b="1"/>
            </a:pPr>
          </a:p>
          <a:p>
            <a:pPr>
              <a:defRPr sz="2200" b="1"/>
            </a:pPr>
            <a:r>
              <a:t>Questions &amp; Demonstration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004548" y="6644568"/>
            <a:ext cx="5931354" cy="358353"/>
          </a:xfrm>
          <a:custGeom>
            <a:avLst/>
            <a:gdLst/>
            <a:ahLst/>
            <a:cxnLst/>
            <a:rect r="r" b="b" t="t" l="l"/>
            <a:pathLst>
              <a:path h="358353" w="5931354">
                <a:moveTo>
                  <a:pt x="0" y="0"/>
                </a:moveTo>
                <a:lnTo>
                  <a:pt x="5931354" y="0"/>
                </a:lnTo>
                <a:lnTo>
                  <a:pt x="5931354" y="358352"/>
                </a:lnTo>
                <a:lnTo>
                  <a:pt x="0" y="35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81526" y="0"/>
            <a:ext cx="4106228" cy="4114800"/>
          </a:xfrm>
          <a:custGeom>
            <a:avLst/>
            <a:gdLst/>
            <a:ahLst/>
            <a:cxnLst/>
            <a:rect r="r" b="b" t="t" l="l"/>
            <a:pathLst>
              <a:path h="4114800" w="4106228">
                <a:moveTo>
                  <a:pt x="0" y="0"/>
                </a:moveTo>
                <a:lnTo>
                  <a:pt x="4106227" y="0"/>
                </a:lnTo>
                <a:lnTo>
                  <a:pt x="41062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81438" y="6304600"/>
            <a:ext cx="5297854" cy="5271365"/>
          </a:xfrm>
          <a:custGeom>
            <a:avLst/>
            <a:gdLst/>
            <a:ahLst/>
            <a:cxnLst/>
            <a:rect r="r" b="b" t="t" l="l"/>
            <a:pathLst>
              <a:path h="5271365" w="5297854">
                <a:moveTo>
                  <a:pt x="0" y="0"/>
                </a:moveTo>
                <a:lnTo>
                  <a:pt x="5297854" y="0"/>
                </a:lnTo>
                <a:lnTo>
                  <a:pt x="5297854" y="5271365"/>
                </a:lnTo>
                <a:lnTo>
                  <a:pt x="0" y="5271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18" t="-78926" r="-32997" b="-11791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00263" y="-180474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0" y="0"/>
                </a:moveTo>
                <a:lnTo>
                  <a:pt x="4647320" y="0"/>
                </a:lnTo>
                <a:lnTo>
                  <a:pt x="4647320" y="5024130"/>
                </a:lnTo>
                <a:lnTo>
                  <a:pt x="0" y="50241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18" t="-78926" r="-32997" b="-11791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2746" y="119570"/>
            <a:ext cx="2365925" cy="1273797"/>
          </a:xfrm>
          <a:custGeom>
            <a:avLst/>
            <a:gdLst/>
            <a:ahLst/>
            <a:cxnLst/>
            <a:rect r="r" b="b" t="t" l="l"/>
            <a:pathLst>
              <a:path h="1273797" w="2365925">
                <a:moveTo>
                  <a:pt x="0" y="0"/>
                </a:moveTo>
                <a:lnTo>
                  <a:pt x="2365925" y="0"/>
                </a:lnTo>
                <a:lnTo>
                  <a:pt x="2365925" y="1273797"/>
                </a:lnTo>
                <a:lnTo>
                  <a:pt x="0" y="1273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818" t="-78926" r="-32997" b="-117912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-5400000">
            <a:off x="13672854" y="-188405"/>
            <a:ext cx="4647320" cy="5024130"/>
          </a:xfrm>
          <a:custGeom>
            <a:avLst/>
            <a:gdLst/>
            <a:ahLst/>
            <a:cxnLst/>
            <a:rect r="r" b="b" t="t" l="l"/>
            <a:pathLst>
              <a:path h="5024130" w="4647320">
                <a:moveTo>
                  <a:pt x="4647320" y="5024130"/>
                </a:moveTo>
                <a:lnTo>
                  <a:pt x="0" y="5024130"/>
                </a:lnTo>
                <a:lnTo>
                  <a:pt x="0" y="0"/>
                </a:lnTo>
                <a:lnTo>
                  <a:pt x="4647320" y="0"/>
                </a:lnTo>
                <a:lnTo>
                  <a:pt x="4647320" y="502413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236882" y="158429"/>
            <a:ext cx="18364246" cy="1740542"/>
            <a:chOff x="0" y="0"/>
            <a:chExt cx="24485662" cy="2320723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5368468" y="286218"/>
              <a:ext cx="14278749" cy="15645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86"/>
                </a:lnSpc>
                <a:spcBef>
                  <a:spcPct val="0"/>
                </a:spcBef>
              </a:pPr>
              <a:r>
                <a:rPr lang="en-US" b="true" sz="2128" spc="253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Madhav Institute of Technology &amp; Science, Gwalior (M.P.), INDIA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Deemed University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(Declared under Distinct Category by Ministry of Education, Government of India)</a:t>
              </a:r>
            </a:p>
            <a:p>
              <a:pPr algn="ctr">
                <a:lnSpc>
                  <a:spcPts val="2146"/>
                </a:lnSpc>
                <a:spcBef>
                  <a:spcPct val="0"/>
                </a:spcBef>
              </a:pPr>
              <a:r>
                <a:rPr lang="en-US" b="true" sz="1480" spc="176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NAAC ACCREDITED WITH A++ GRADE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21019431" y="0"/>
              <a:ext cx="3466231" cy="1866194"/>
            </a:xfrm>
            <a:custGeom>
              <a:avLst/>
              <a:gdLst/>
              <a:ahLst/>
              <a:cxnLst/>
              <a:rect r="r" b="b" t="t" l="l"/>
              <a:pathLst>
                <a:path h="1866194" w="3466231">
                  <a:moveTo>
                    <a:pt x="0" y="0"/>
                  </a:moveTo>
                  <a:lnTo>
                    <a:pt x="3466231" y="0"/>
                  </a:lnTo>
                  <a:lnTo>
                    <a:pt x="3466231" y="1866194"/>
                  </a:lnTo>
                  <a:lnTo>
                    <a:pt x="0" y="18661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818" t="-78926" r="-32997" b="-117912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3261" cy="2320723"/>
            </a:xfrm>
            <a:custGeom>
              <a:avLst/>
              <a:gdLst/>
              <a:ahLst/>
              <a:cxnLst/>
              <a:rect r="r" b="b" t="t" l="l"/>
              <a:pathLst>
                <a:path h="2320723" w="3483261">
                  <a:moveTo>
                    <a:pt x="0" y="0"/>
                  </a:moveTo>
                  <a:lnTo>
                    <a:pt x="3483261" y="0"/>
                  </a:lnTo>
                  <a:lnTo>
                    <a:pt x="3483261" y="2320723"/>
                  </a:lnTo>
                  <a:lnTo>
                    <a:pt x="0" y="2320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DAHOogCGmek</dc:identifier>
  <dcterms:modified xsi:type="dcterms:W3CDTF">2011-08-01T06:04:30Z</dcterms:modified>
  <cp:revision>1</cp:revision>
  <dc:title>Yellow White Minimalist Elegant Presentation</dc:title>
</cp:coreProperties>
</file>